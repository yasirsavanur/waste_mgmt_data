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Source Sans Pro Bold" charset="1" panose="020B0703030403020204"/>
      <p:regular r:id="rId24"/>
    </p:embeddedFont>
    <p:embeddedFont>
      <p:font typeface="Source Sans Pro" charset="1" panose="020B0503030403020204"/>
      <p:regular r:id="rId25"/>
    </p:embeddedFont>
    <p:embeddedFont>
      <p:font typeface="Canva Sans Bold" charset="1" panose="020B0803030501040103"/>
      <p:regular r:id="rId26"/>
    </p:embeddedFont>
    <p:embeddedFont>
      <p:font typeface="Canva Sans" charset="1" panose="020B0503030501040103"/>
      <p:regular r:id="rId27"/>
    </p:embeddedFont>
    <p:embeddedFont>
      <p:font typeface="Canva Sans Italics" charset="1" panose="020B0503030501040103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90AB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654172"/>
            <a:ext cx="16230600" cy="280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99"/>
              </a:lnSpc>
            </a:pPr>
            <a:r>
              <a:rPr lang="en-US" sz="9999" b="true">
                <a:solidFill>
                  <a:srgbClr val="FFFFFF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EA Waste Data Interrogator (2023-2024)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5100636"/>
            <a:ext cx="16030831" cy="2832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00"/>
              </a:lnSpc>
            </a:pPr>
            <a:r>
              <a:rPr lang="en-US" sz="75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Regional Flow &amp; Treatment Analysis</a:t>
            </a:r>
          </a:p>
          <a:p>
            <a:pPr algn="l">
              <a:lnSpc>
                <a:spcPts val="4900"/>
              </a:lnSpc>
            </a:pPr>
          </a:p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Prepared for Fishbone Solutions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8661400"/>
            <a:ext cx="15875972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Yasir Savanur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77" r="0" b="-927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59646" y="3794125"/>
            <a:ext cx="15322671" cy="280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999"/>
              </a:lnSpc>
            </a:pPr>
            <a:r>
              <a:rPr lang="en-US" b="true" sz="9999">
                <a:solidFill>
                  <a:srgbClr val="497445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Part 1: Problem Statement &amp; Descriptive Analytics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F6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302454" y="2371705"/>
            <a:ext cx="11683092" cy="7915295"/>
          </a:xfrm>
          <a:custGeom>
            <a:avLst/>
            <a:gdLst/>
            <a:ahLst/>
            <a:cxnLst/>
            <a:rect r="r" b="b" t="t" l="l"/>
            <a:pathLst>
              <a:path h="7915295" w="11683092">
                <a:moveTo>
                  <a:pt x="0" y="0"/>
                </a:moveTo>
                <a:lnTo>
                  <a:pt x="11683092" y="0"/>
                </a:lnTo>
                <a:lnTo>
                  <a:pt x="11683092" y="7915295"/>
                </a:lnTo>
                <a:lnTo>
                  <a:pt x="0" y="79152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41558" y="269769"/>
            <a:ext cx="17314602" cy="1811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Objective: </a:t>
            </a:r>
            <a:r>
              <a:rPr lang="en-US" sz="5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Analyse 2023-24 EA Waste Data to identify regional trends and fates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EEF6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19883" y="1488783"/>
            <a:ext cx="17248234" cy="1811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Constraints: </a:t>
            </a:r>
            <a:r>
              <a:rPr lang="en-US" sz="5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Massive dataset volume, complex file format and heavily fragmented reporting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19883" y="5185886"/>
            <a:ext cx="17248234" cy="2734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Risk: </a:t>
            </a:r>
            <a:r>
              <a:rPr lang="en-US" sz="5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High probability of “double-counting” physical waste if Received and Removed pipelines are improperly merged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F6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503750" y="6492930"/>
            <a:ext cx="10943061" cy="1133177"/>
          </a:xfrm>
          <a:custGeom>
            <a:avLst/>
            <a:gdLst/>
            <a:ahLst/>
            <a:cxnLst/>
            <a:rect r="r" b="b" t="t" l="l"/>
            <a:pathLst>
              <a:path h="1133177" w="10943061">
                <a:moveTo>
                  <a:pt x="0" y="0"/>
                </a:moveTo>
                <a:lnTo>
                  <a:pt x="10943061" y="0"/>
                </a:lnTo>
                <a:lnTo>
                  <a:pt x="10943061" y="1133176"/>
                </a:lnTo>
                <a:lnTo>
                  <a:pt x="0" y="11331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320" r="0" b="-432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503750" y="8359531"/>
            <a:ext cx="10943061" cy="1108259"/>
          </a:xfrm>
          <a:custGeom>
            <a:avLst/>
            <a:gdLst/>
            <a:ahLst/>
            <a:cxnLst/>
            <a:rect r="r" b="b" t="t" l="l"/>
            <a:pathLst>
              <a:path h="1108259" w="10943061">
                <a:moveTo>
                  <a:pt x="0" y="0"/>
                </a:moveTo>
                <a:lnTo>
                  <a:pt x="10943061" y="0"/>
                </a:lnTo>
                <a:lnTo>
                  <a:pt x="10943061" y="1108260"/>
                </a:lnTo>
                <a:lnTo>
                  <a:pt x="0" y="11082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690" r="0" b="-369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64123" y="477350"/>
            <a:ext cx="16695177" cy="1562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Across all facility regions, waste categories and fates in 2023-24: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64123" y="2096216"/>
            <a:ext cx="16695177" cy="3508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603" indent="-431801" lvl="1">
              <a:lnSpc>
                <a:spcPts val="5600"/>
              </a:lnSpc>
              <a:buFont typeface="Arial"/>
              <a:buChar char="•"/>
            </a:pPr>
            <a:r>
              <a:rPr lang="en-US" sz="4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Total Operational Handling = 710.8 MT</a:t>
            </a:r>
          </a:p>
          <a:p>
            <a:pPr algn="l" marL="863603" indent="-431801" lvl="1">
              <a:lnSpc>
                <a:spcPts val="5600"/>
              </a:lnSpc>
              <a:buFont typeface="Arial"/>
              <a:buChar char="•"/>
            </a:pPr>
            <a:r>
              <a:rPr lang="en-US" sz="4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Inbound (Received) = 473.46 MT</a:t>
            </a:r>
          </a:p>
          <a:p>
            <a:pPr algn="l" marL="863603" indent="-431801" lvl="1">
              <a:lnSpc>
                <a:spcPts val="5600"/>
              </a:lnSpc>
              <a:buFont typeface="Arial"/>
              <a:buChar char="•"/>
            </a:pPr>
            <a:r>
              <a:rPr lang="en-US" sz="4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Outbound (Removed) = 237.34 MT</a:t>
            </a:r>
          </a:p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Net Waste flow = 236.12 MT - Reveals the true regional capacity and physical accumulation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13579" y="6735985"/>
            <a:ext cx="2056924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2023 KPIs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8590129"/>
            <a:ext cx="2062520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2024 KPIs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F6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144557" y="2965639"/>
            <a:ext cx="14396521" cy="6752949"/>
          </a:xfrm>
          <a:custGeom>
            <a:avLst/>
            <a:gdLst/>
            <a:ahLst/>
            <a:cxnLst/>
            <a:rect r="r" b="b" t="t" l="l"/>
            <a:pathLst>
              <a:path h="6752949" w="14396521">
                <a:moveTo>
                  <a:pt x="0" y="0"/>
                </a:moveTo>
                <a:lnTo>
                  <a:pt x="14396521" y="0"/>
                </a:lnTo>
                <a:lnTo>
                  <a:pt x="14396521" y="6752949"/>
                </a:lnTo>
                <a:lnTo>
                  <a:pt x="0" y="67529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024" r="-4035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18657" y="438059"/>
            <a:ext cx="17848320" cy="1028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Addressing the Core Questions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18657" y="1726118"/>
            <a:ext cx="13855898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Insight #1: Regional Volumes of Waste Fate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609686" y="7098877"/>
            <a:ext cx="4085232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London (2024): High prioritisation of recovery (7.6 MT)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749261" y="7442095"/>
            <a:ext cx="4705694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Negligible Landfill usage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F6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18316" y="4863385"/>
            <a:ext cx="8519690" cy="4647087"/>
          </a:xfrm>
          <a:custGeom>
            <a:avLst/>
            <a:gdLst/>
            <a:ahLst/>
            <a:cxnLst/>
            <a:rect r="r" b="b" t="t" l="l"/>
            <a:pathLst>
              <a:path h="4647087" w="8519690">
                <a:moveTo>
                  <a:pt x="0" y="0"/>
                </a:moveTo>
                <a:lnTo>
                  <a:pt x="8519691" y="0"/>
                </a:lnTo>
                <a:lnTo>
                  <a:pt x="8519691" y="4647087"/>
                </a:lnTo>
                <a:lnTo>
                  <a:pt x="0" y="46470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1845" r="-34449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938007" y="4863385"/>
            <a:ext cx="8827586" cy="4716485"/>
          </a:xfrm>
          <a:custGeom>
            <a:avLst/>
            <a:gdLst/>
            <a:ahLst/>
            <a:cxnLst/>
            <a:rect r="r" b="b" t="t" l="l"/>
            <a:pathLst>
              <a:path h="4716485" w="8827586">
                <a:moveTo>
                  <a:pt x="0" y="0"/>
                </a:moveTo>
                <a:lnTo>
                  <a:pt x="8827585" y="0"/>
                </a:lnTo>
                <a:lnTo>
                  <a:pt x="8827585" y="4716486"/>
                </a:lnTo>
                <a:lnTo>
                  <a:pt x="0" y="47164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1120" r="-28022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489990" y="7154953"/>
            <a:ext cx="3052048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West Midlands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766309" y="7120254"/>
            <a:ext cx="2909530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East Midlands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17515" y="2318806"/>
            <a:ext cx="8420492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West Midlands (2024) 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Transfer Fate = 366 KT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Treatment Fate = 530 KT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25099" y="734346"/>
            <a:ext cx="16840984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  <a:spcBef>
                <a:spcPct val="0"/>
              </a:spcBef>
            </a:pPr>
            <a:r>
              <a:rPr lang="en-US" b="true" sz="51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Regional Volumes of Waste Fate Insights continued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938007" y="2318806"/>
            <a:ext cx="8420492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East Midlands (2024) 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Transfer Fate = 320 KT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Treatment Fate = 677 KT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F6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87236" y="3605968"/>
            <a:ext cx="12595726" cy="5652332"/>
          </a:xfrm>
          <a:custGeom>
            <a:avLst/>
            <a:gdLst/>
            <a:ahLst/>
            <a:cxnLst/>
            <a:rect r="r" b="b" t="t" l="l"/>
            <a:pathLst>
              <a:path h="5652332" w="12595726">
                <a:moveTo>
                  <a:pt x="0" y="0"/>
                </a:moveTo>
                <a:lnTo>
                  <a:pt x="12595726" y="0"/>
                </a:lnTo>
                <a:lnTo>
                  <a:pt x="12595726" y="5652332"/>
                </a:lnTo>
                <a:lnTo>
                  <a:pt x="0" y="56523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40780" y="537527"/>
            <a:ext cx="14162484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Insight #2: Regional Volumes by Waste Type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30049" y="2191763"/>
            <a:ext cx="1636026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National Inbound (Received): Dominated by Mineral Wastes </a:t>
            </a:r>
            <a:r>
              <a:rPr lang="en-US" sz="3399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(Light blue)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F6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560630" y="3333267"/>
            <a:ext cx="13166740" cy="5925033"/>
          </a:xfrm>
          <a:custGeom>
            <a:avLst/>
            <a:gdLst/>
            <a:ahLst/>
            <a:cxnLst/>
            <a:rect r="r" b="b" t="t" l="l"/>
            <a:pathLst>
              <a:path h="5925033" w="13166740">
                <a:moveTo>
                  <a:pt x="0" y="0"/>
                </a:moveTo>
                <a:lnTo>
                  <a:pt x="13166740" y="0"/>
                </a:lnTo>
                <a:lnTo>
                  <a:pt x="13166740" y="5925033"/>
                </a:lnTo>
                <a:lnTo>
                  <a:pt x="0" y="59250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18316" y="537527"/>
            <a:ext cx="16840984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  <a:spcBef>
                <a:spcPct val="0"/>
              </a:spcBef>
            </a:pPr>
            <a:r>
              <a:rPr lang="en-US" b="true" sz="51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Regional Volumes by Waste Type Insights continued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90507" y="1958919"/>
            <a:ext cx="16906986" cy="1192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9"/>
              </a:lnSpc>
            </a:pPr>
            <a:r>
              <a:rPr lang="en-US" sz="343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National Outbound (Removed): Dominated by Mixed Ordinary Wastes </a:t>
            </a:r>
            <a:r>
              <a:rPr lang="en-US" sz="3435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(Dark green)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F6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02014" y="4858607"/>
            <a:ext cx="8641986" cy="3796345"/>
          </a:xfrm>
          <a:custGeom>
            <a:avLst/>
            <a:gdLst/>
            <a:ahLst/>
            <a:cxnLst/>
            <a:rect r="r" b="b" t="t" l="l"/>
            <a:pathLst>
              <a:path h="3796345" w="8641986">
                <a:moveTo>
                  <a:pt x="0" y="0"/>
                </a:moveTo>
                <a:lnTo>
                  <a:pt x="8641986" y="0"/>
                </a:lnTo>
                <a:lnTo>
                  <a:pt x="8641986" y="3796345"/>
                </a:lnTo>
                <a:lnTo>
                  <a:pt x="0" y="37963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76" r="0" b="-107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420984" y="4832759"/>
            <a:ext cx="8541213" cy="3822193"/>
          </a:xfrm>
          <a:custGeom>
            <a:avLst/>
            <a:gdLst/>
            <a:ahLst/>
            <a:cxnLst/>
            <a:rect r="r" b="b" t="t" l="l"/>
            <a:pathLst>
              <a:path h="3822193" w="8541213">
                <a:moveTo>
                  <a:pt x="0" y="0"/>
                </a:moveTo>
                <a:lnTo>
                  <a:pt x="8541213" y="0"/>
                </a:lnTo>
                <a:lnTo>
                  <a:pt x="8541213" y="3822193"/>
                </a:lnTo>
                <a:lnTo>
                  <a:pt x="0" y="38221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18316" y="537527"/>
            <a:ext cx="16840984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  <a:spcBef>
                <a:spcPct val="0"/>
              </a:spcBef>
            </a:pPr>
            <a:r>
              <a:rPr lang="en-US" b="true" sz="51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Regional Volumes by Waste Type Insights continued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90507" y="1958919"/>
            <a:ext cx="16906986" cy="585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9"/>
              </a:lnSpc>
            </a:pPr>
            <a:r>
              <a:rPr lang="en-US" sz="343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Regional Contrast (2024)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078067"/>
            <a:ext cx="8703337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ondon = Minerals &gt; Mixed Ordinary Wastes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152039" y="3078067"/>
            <a:ext cx="7445454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Yorkshire &amp; Humber 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= Mixed Ordinary Wastes &gt; Minerals 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F6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166887" y="3472577"/>
            <a:ext cx="14264747" cy="6490460"/>
          </a:xfrm>
          <a:custGeom>
            <a:avLst/>
            <a:gdLst/>
            <a:ahLst/>
            <a:cxnLst/>
            <a:rect r="r" b="b" t="t" l="l"/>
            <a:pathLst>
              <a:path h="6490460" w="14264747">
                <a:moveTo>
                  <a:pt x="0" y="0"/>
                </a:moveTo>
                <a:lnTo>
                  <a:pt x="14264747" y="0"/>
                </a:lnTo>
                <a:lnTo>
                  <a:pt x="14264747" y="6490460"/>
                </a:lnTo>
                <a:lnTo>
                  <a:pt x="0" y="64904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40780" y="537527"/>
            <a:ext cx="16659463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Insight #3: Trends in Volumes &amp; Flow (2023 vs 2024)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75714" y="1825030"/>
            <a:ext cx="17336572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Recovery Peaks (2023): Yorkshire &amp; Humber led with 32.6 MT (11.7 MT Net Flow) whereas North East was lowest at 10.6 MT (2.8 MT Net Flow)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F6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21048" y="3231285"/>
            <a:ext cx="14742624" cy="6744750"/>
          </a:xfrm>
          <a:custGeom>
            <a:avLst/>
            <a:gdLst/>
            <a:ahLst/>
            <a:cxnLst/>
            <a:rect r="r" b="b" t="t" l="l"/>
            <a:pathLst>
              <a:path h="6744750" w="14742624">
                <a:moveTo>
                  <a:pt x="0" y="0"/>
                </a:moveTo>
                <a:lnTo>
                  <a:pt x="14742623" y="0"/>
                </a:lnTo>
                <a:lnTo>
                  <a:pt x="14742623" y="6744751"/>
                </a:lnTo>
                <a:lnTo>
                  <a:pt x="0" y="67447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18316" y="537527"/>
            <a:ext cx="16840984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  <a:spcBef>
                <a:spcPct val="0"/>
              </a:spcBef>
            </a:pPr>
            <a:r>
              <a:rPr lang="en-US" b="true" sz="51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Tr</a:t>
            </a:r>
            <a:r>
              <a:rPr lang="en-US" b="true" sz="51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ends in Volumes &amp; Flow Insights continued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75714" y="1788006"/>
            <a:ext cx="17433291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Incineration Peaks (2024): South East region led with 6.1 MT Total (1.7 MT Net Flow) wheras North East region was lowest at 2.4 MT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77" r="0" b="-927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59646" y="3794125"/>
            <a:ext cx="15322671" cy="280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999"/>
              </a:lnSpc>
            </a:pPr>
            <a:r>
              <a:rPr lang="en-US" b="true" sz="9999">
                <a:solidFill>
                  <a:srgbClr val="497445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Part 2: Methodology &amp; Data Engineering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EEF6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380186"/>
            <a:ext cx="16426545" cy="418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Challenge: Massive .xslb risk crashing standard Power Query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Solution: Scripted using Python for ingestion by incorporating pandas and pyxlsb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Automation: Utilised Regex to auto-extract and stamp ‘Year’ data directly from filenames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Output: Generated 2 different light, cleansed, merged .xlsx master files into categorising Received &amp; Removed Waste Flows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743952"/>
            <a:ext cx="1642654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 Cleaning and ETL Pipeline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02330" y="7313501"/>
            <a:ext cx="17685670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 Cleaning N</a:t>
            </a:r>
            <a:r>
              <a:rPr lang="en-US" b="true" sz="3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ote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The aim was to maintain the data integrity and despite containing missing &amp; duplicate values, all the entries were retained to ensure the absolute totals &amp; KPIs remained accurate. 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F6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36021" y="1689185"/>
            <a:ext cx="16015957" cy="8088058"/>
          </a:xfrm>
          <a:custGeom>
            <a:avLst/>
            <a:gdLst/>
            <a:ahLst/>
            <a:cxnLst/>
            <a:rect r="r" b="b" t="t" l="l"/>
            <a:pathLst>
              <a:path h="8088058" w="16015957">
                <a:moveTo>
                  <a:pt x="0" y="0"/>
                </a:moveTo>
                <a:lnTo>
                  <a:pt x="16015958" y="0"/>
                </a:lnTo>
                <a:lnTo>
                  <a:pt x="16015958" y="8088059"/>
                </a:lnTo>
                <a:lnTo>
                  <a:pt x="0" y="80880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32755" y="537527"/>
            <a:ext cx="1642654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Dashboard Architecture (Power BI)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EEF6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32755" y="537527"/>
            <a:ext cx="1642654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Dashboard Architecture continued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99788" y="2154666"/>
            <a:ext cx="15184486" cy="3580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Core Logic: Segregated ‘FactReceived’ and ‘FactRemoved’ to analyse independently and to prevent double-counting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Dimensional Bridging: Linked ‘DimFacilityRegion’ and ‘DimYear’ and ‘DimWasteCategory’ to allow synchronised, cross-table filtering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UI Interface: Disconnected ‘DimFlowType’ table enables dynamic DAX measures for interactive flow toggling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65048" y="6958099"/>
            <a:ext cx="17422952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Data Integrity: ‘Blank’ option in several slicers are due to EA commercial confidentiality and in turn retained witheld data to prevent bias.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EEF6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38349" y="933450"/>
            <a:ext cx="16866918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Conclusion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38349" y="2341705"/>
            <a:ext cx="11341492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Recommendations and Next Steps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38349" y="3445970"/>
            <a:ext cx="16866918" cy="538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Logistics Forecasting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By tracking the key variables with respect to its regions, we can accurately predict and optimise logistics and movement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Capacity Planning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Investigate anomalies eg., North West’s negative net flow to predict future facility capacity shortages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Commercial Data Governance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Establishing strict rules for handling ‘Confidential/Blank’ data ensures stakeholders make decision on absolute physical realities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Automate Client Reporting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This Python ETL-to-Power BI pipeline can be directly deployed to replace manual Excel tracking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77" r="0" b="-927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59646" y="4489450"/>
            <a:ext cx="15322671" cy="14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999"/>
              </a:lnSpc>
            </a:pPr>
            <a:r>
              <a:rPr lang="en-US" b="true" sz="9999">
                <a:solidFill>
                  <a:srgbClr val="497445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DAHMLMwrK_M</dc:identifier>
  <dcterms:modified xsi:type="dcterms:W3CDTF">2011-08-01T06:04:30Z</dcterms:modified>
  <cp:revision>1</cp:revision>
  <dc:title>Waste Data Interrogator (2023-2024)</dc:title>
</cp:coreProperties>
</file>